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00475"/>
            <a:ext cx="4714875" cy="1343025"/>
          </a:xfrm>
          <a:prstGeom prst="rect">
            <a:avLst/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452650" cy="357188"/>
          </a:xfrm>
          <a:prstGeom prst="roundRect">
            <a:avLst>
              <a:gd name="adj" fmla="val 2663996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452650" cy="385763"/>
          </a:xfrm>
          <a:prstGeom prst="rect">
            <a:avLst/>
          </a:prstGeom>
          <a:noFill/>
          <a:ln/>
        </p:spPr>
        <p:txBody>
          <a:bodyPr wrap="none" lIns="171450" tIns="71438" rIns="171450" bIns="71438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BÀI THUYẾT TRÌNH NHÓM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28700"/>
            <a:ext cx="4746308" cy="1347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14"/>
              </a:lnSpc>
              <a:buNone/>
            </a:pPr>
            <a:r>
              <a:rPr lang="en-US" sz="4725" b="1" spc="-118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TOUR DU LỊCH</a:t>
            </a:r>
            <a:endParaRPr lang="en-US" sz="4725" dirty="0"/>
          </a:p>
          <a:p>
            <a:pPr algn="l" indent="0" marL="0">
              <a:lnSpc>
                <a:spcPts val="4914"/>
              </a:lnSpc>
              <a:buNone/>
            </a:pPr>
            <a:r>
              <a:rPr lang="en-US" sz="4725" b="1" spc="-118" kern="0" dirty="0">
                <a:solidFill>
                  <a:srgbClr val="149D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NHA TRANG</a:t>
            </a:r>
            <a:endParaRPr lang="en-US" sz="4725" dirty="0"/>
          </a:p>
        </p:txBody>
      </p:sp>
      <p:sp>
        <p:nvSpPr>
          <p:cNvPr id="6" name="Text 4"/>
          <p:cNvSpPr/>
          <p:nvPr/>
        </p:nvSpPr>
        <p:spPr>
          <a:xfrm>
            <a:off x="457200" y="2462585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691185"/>
            <a:ext cx="4660011" cy="29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Khám phá viên ngọc xanh của biển Đông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57200" y="3175508"/>
            <a:ext cx="1827572" cy="410766"/>
          </a:xfrm>
          <a:prstGeom prst="roundRect">
            <a:avLst>
              <a:gd name="adj" fmla="val 2316520"/>
            </a:avLst>
          </a:prstGeom>
          <a:solidFill>
            <a:srgbClr val="0A3D6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1513" y="329516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EC4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928688" y="3268377"/>
            <a:ext cx="114177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5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NGÀY 2 ĐÊM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457200" y="4504134"/>
            <a:ext cx="3939332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viên: Kỳ Anh · Minh Nhật · Anh Thư · Thanh Nguyên</a:t>
            </a:r>
            <a:endParaRPr lang="en-US" sz="1181" dirty="0"/>
          </a:p>
        </p:txBody>
      </p:sp>
      <p:pic>
        <p:nvPicPr>
          <p:cNvPr id="12" name="Image 0" descr="/tmp/h2p-fit-1792306190544-q24s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0" y="200025"/>
            <a:ext cx="3857625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12392" cy="357188"/>
          </a:xfrm>
          <a:prstGeom prst="roundRect">
            <a:avLst>
              <a:gd name="adj" fmla="val 2663996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12392" cy="385763"/>
          </a:xfrm>
          <a:prstGeom prst="rect">
            <a:avLst/>
          </a:prstGeom>
          <a:noFill/>
          <a:ln/>
        </p:spPr>
        <p:txBody>
          <a:bodyPr wrap="none" lIns="171450" tIns="71438" rIns="171450" bIns="71438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NHÓM THỰC HIỆN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457200" y="985838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viên nhóm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554435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925910"/>
            <a:ext cx="1928813" cy="2760390"/>
          </a:xfrm>
          <a:prstGeom prst="roundRect">
            <a:avLst>
              <a:gd name="adj" fmla="val 9877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16550" y="2068785"/>
            <a:ext cx="272014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149D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971550" y="2475644"/>
            <a:ext cx="900113" cy="900113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77057" y="2725675"/>
            <a:ext cx="594606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890900" y="3532919"/>
            <a:ext cx="1061301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1"/>
              </a:lnSpc>
              <a:buNone/>
            </a:pPr>
            <a:r>
              <a:rPr lang="en-US" sz="168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Kỳ Anh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841958" y="3911538"/>
            <a:ext cx="1358696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viên nhóm</a:t>
            </a:r>
            <a:endParaRPr lang="en-US" sz="1181" dirty="0"/>
          </a:p>
        </p:txBody>
      </p:sp>
      <p:sp>
        <p:nvSpPr>
          <p:cNvPr id="12" name="Text 10"/>
          <p:cNvSpPr/>
          <p:nvPr/>
        </p:nvSpPr>
        <p:spPr>
          <a:xfrm>
            <a:off x="2557463" y="1925910"/>
            <a:ext cx="1928813" cy="2760390"/>
          </a:xfrm>
          <a:prstGeom prst="roundRect">
            <a:avLst>
              <a:gd name="adj" fmla="val 9877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16812" y="2068785"/>
            <a:ext cx="272014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149D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81" dirty="0"/>
          </a:p>
        </p:txBody>
      </p:sp>
      <p:sp>
        <p:nvSpPr>
          <p:cNvPr id="14" name="Text 12"/>
          <p:cNvSpPr/>
          <p:nvPr/>
        </p:nvSpPr>
        <p:spPr>
          <a:xfrm>
            <a:off x="3071813" y="2475644"/>
            <a:ext cx="900113" cy="900113"/>
          </a:xfrm>
          <a:prstGeom prst="ellipse">
            <a:avLst/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55218" y="2725675"/>
            <a:ext cx="616707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2781264" y="3532919"/>
            <a:ext cx="1481097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1"/>
              </a:lnSpc>
              <a:buNone/>
            </a:pPr>
            <a:r>
              <a:rPr lang="en-US" sz="168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Minh Nhật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2942220" y="3911538"/>
            <a:ext cx="1358696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viên nhóm</a:t>
            </a:r>
            <a:endParaRPr lang="en-US" sz="1181" dirty="0"/>
          </a:p>
        </p:txBody>
      </p:sp>
      <p:sp>
        <p:nvSpPr>
          <p:cNvPr id="18" name="Text 16"/>
          <p:cNvSpPr/>
          <p:nvPr/>
        </p:nvSpPr>
        <p:spPr>
          <a:xfrm>
            <a:off x="4657725" y="1925910"/>
            <a:ext cx="1928813" cy="2760390"/>
          </a:xfrm>
          <a:prstGeom prst="roundRect">
            <a:avLst>
              <a:gd name="adj" fmla="val 9877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7075" y="2068785"/>
            <a:ext cx="272014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149D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81" dirty="0"/>
          </a:p>
        </p:txBody>
      </p:sp>
      <p:sp>
        <p:nvSpPr>
          <p:cNvPr id="20" name="Text 18"/>
          <p:cNvSpPr/>
          <p:nvPr/>
        </p:nvSpPr>
        <p:spPr>
          <a:xfrm>
            <a:off x="5172075" y="2475644"/>
            <a:ext cx="900113" cy="900113"/>
          </a:xfrm>
          <a:prstGeom prst="ellipse">
            <a:avLst/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77582" y="2725675"/>
            <a:ext cx="594606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4983499" y="3532919"/>
            <a:ext cx="1277265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1"/>
              </a:lnSpc>
              <a:buNone/>
            </a:pPr>
            <a:r>
              <a:rPr lang="en-US" sz="168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Anh Thư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5042483" y="3911538"/>
            <a:ext cx="1358696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viên nhóm</a:t>
            </a:r>
            <a:endParaRPr lang="en-US" sz="1181" dirty="0"/>
          </a:p>
        </p:txBody>
      </p:sp>
      <p:sp>
        <p:nvSpPr>
          <p:cNvPr id="24" name="Text 22"/>
          <p:cNvSpPr/>
          <p:nvPr/>
        </p:nvSpPr>
        <p:spPr>
          <a:xfrm>
            <a:off x="6757988" y="1925910"/>
            <a:ext cx="1928813" cy="2760390"/>
          </a:xfrm>
          <a:prstGeom prst="roundRect">
            <a:avLst>
              <a:gd name="adj" fmla="val 9877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17337" y="2068785"/>
            <a:ext cx="272014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149D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81" dirty="0"/>
          </a:p>
        </p:txBody>
      </p:sp>
      <p:sp>
        <p:nvSpPr>
          <p:cNvPr id="26" name="Text 24"/>
          <p:cNvSpPr/>
          <p:nvPr/>
        </p:nvSpPr>
        <p:spPr>
          <a:xfrm>
            <a:off x="7272338" y="2475644"/>
            <a:ext cx="900113" cy="900113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00169" y="2725675"/>
            <a:ext cx="57228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6886575" y="3532919"/>
            <a:ext cx="1671638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1"/>
              </a:lnSpc>
              <a:buNone/>
            </a:pPr>
            <a:r>
              <a:rPr lang="en-US" sz="168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Thanh Nguyên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7142745" y="3911538"/>
            <a:ext cx="1358696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viên nhóm</a:t>
            </a:r>
            <a:endParaRPr lang="en-US" sz="118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Nội dung trình bày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1025798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344" y="1175817"/>
            <a:ext cx="8215313" cy="794296"/>
          </a:xfrm>
          <a:prstGeom prst="roundRect">
            <a:avLst>
              <a:gd name="adj" fmla="val 23984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88" y="1315789"/>
            <a:ext cx="514350" cy="514350"/>
          </a:xfrm>
          <a:prstGeom prst="roundRect">
            <a:avLst>
              <a:gd name="adj" fmla="val 29630"/>
            </a:avLst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315789"/>
            <a:ext cx="607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1400175" y="1282973"/>
            <a:ext cx="3306985" cy="32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MỞ ĐẦU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1400175" y="1637928"/>
            <a:ext cx="279026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Giới thiệu điểm đến &amp; lý do chọn đề tài</a:t>
            </a:r>
            <a:endParaRPr lang="en-US" sz="1181" dirty="0"/>
          </a:p>
        </p:txBody>
      </p:sp>
      <p:sp>
        <p:nvSpPr>
          <p:cNvPr id="9" name="Text 7"/>
          <p:cNvSpPr/>
          <p:nvPr/>
        </p:nvSpPr>
        <p:spPr>
          <a:xfrm>
            <a:off x="464344" y="2098700"/>
            <a:ext cx="8215313" cy="794296"/>
          </a:xfrm>
          <a:prstGeom prst="roundRect">
            <a:avLst>
              <a:gd name="adj" fmla="val 23984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088" y="2238673"/>
            <a:ext cx="514350" cy="514350"/>
          </a:xfrm>
          <a:prstGeom prst="roundRect">
            <a:avLst>
              <a:gd name="adj" fmla="val 29630"/>
            </a:avLst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0088" y="2238673"/>
            <a:ext cx="607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138" dirty="0"/>
          </a:p>
        </p:txBody>
      </p:sp>
      <p:sp>
        <p:nvSpPr>
          <p:cNvPr id="12" name="Text 10"/>
          <p:cNvSpPr/>
          <p:nvPr/>
        </p:nvSpPr>
        <p:spPr>
          <a:xfrm>
            <a:off x="1400175" y="2205856"/>
            <a:ext cx="5069401" cy="32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THỰC TRẠNG DU LỊCH NHA TRANG</a:t>
            </a:r>
            <a:endParaRPr lang="en-US" sz="2138" dirty="0"/>
          </a:p>
        </p:txBody>
      </p:sp>
      <p:sp>
        <p:nvSpPr>
          <p:cNvPr id="13" name="Text 11"/>
          <p:cNvSpPr/>
          <p:nvPr/>
        </p:nvSpPr>
        <p:spPr>
          <a:xfrm>
            <a:off x="1400175" y="2560811"/>
            <a:ext cx="506940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Tiềm năng nổi bật &amp; thách thức hiện nay</a:t>
            </a:r>
            <a:endParaRPr lang="en-US" sz="1181" dirty="0"/>
          </a:p>
        </p:txBody>
      </p:sp>
      <p:sp>
        <p:nvSpPr>
          <p:cNvPr id="14" name="Text 12"/>
          <p:cNvSpPr/>
          <p:nvPr/>
        </p:nvSpPr>
        <p:spPr>
          <a:xfrm>
            <a:off x="464344" y="3021583"/>
            <a:ext cx="8215313" cy="794296"/>
          </a:xfrm>
          <a:prstGeom prst="roundRect">
            <a:avLst>
              <a:gd name="adj" fmla="val 23984"/>
            </a:avLst>
          </a:prstGeom>
          <a:solidFill>
            <a:srgbClr val="DFF6F4"/>
          </a:solidFill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3161556"/>
            <a:ext cx="514350" cy="514350"/>
          </a:xfrm>
          <a:prstGeom prst="roundRect">
            <a:avLst>
              <a:gd name="adj" fmla="val 29630"/>
            </a:avLst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088" y="3161556"/>
            <a:ext cx="607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138" dirty="0"/>
          </a:p>
        </p:txBody>
      </p:sp>
      <p:sp>
        <p:nvSpPr>
          <p:cNvPr id="17" name="Text 15"/>
          <p:cNvSpPr/>
          <p:nvPr/>
        </p:nvSpPr>
        <p:spPr>
          <a:xfrm>
            <a:off x="1400175" y="3128739"/>
            <a:ext cx="2570481" cy="32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THIẾT KẾ TOUR</a:t>
            </a:r>
            <a:endParaRPr lang="en-US" sz="2138" dirty="0"/>
          </a:p>
        </p:txBody>
      </p:sp>
      <p:sp>
        <p:nvSpPr>
          <p:cNvPr id="18" name="Text 16"/>
          <p:cNvSpPr/>
          <p:nvPr/>
        </p:nvSpPr>
        <p:spPr>
          <a:xfrm>
            <a:off x="1400175" y="3483694"/>
            <a:ext cx="236870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Lịch trình 3 ngày 2 đêm &amp; chi phí</a:t>
            </a:r>
            <a:endParaRPr lang="en-US" sz="1181" dirty="0"/>
          </a:p>
        </p:txBody>
      </p:sp>
      <p:sp>
        <p:nvSpPr>
          <p:cNvPr id="19" name="Text 17"/>
          <p:cNvSpPr/>
          <p:nvPr/>
        </p:nvSpPr>
        <p:spPr>
          <a:xfrm>
            <a:off x="464344" y="3944466"/>
            <a:ext cx="8215313" cy="794296"/>
          </a:xfrm>
          <a:prstGeom prst="roundRect">
            <a:avLst>
              <a:gd name="adj" fmla="val 23984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4084439"/>
            <a:ext cx="514350" cy="514350"/>
          </a:xfrm>
          <a:prstGeom prst="roundRect">
            <a:avLst>
              <a:gd name="adj" fmla="val 29630"/>
            </a:avLst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0088" y="4084439"/>
            <a:ext cx="607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138" dirty="0"/>
          </a:p>
        </p:txBody>
      </p:sp>
      <p:sp>
        <p:nvSpPr>
          <p:cNvPr id="22" name="Text 20"/>
          <p:cNvSpPr/>
          <p:nvPr/>
        </p:nvSpPr>
        <p:spPr>
          <a:xfrm>
            <a:off x="1400175" y="4051622"/>
            <a:ext cx="2134981" cy="32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KẾT LUẬN</a:t>
            </a:r>
            <a:endParaRPr lang="en-US" sz="2138" dirty="0"/>
          </a:p>
        </p:txBody>
      </p:sp>
      <p:sp>
        <p:nvSpPr>
          <p:cNvPr id="23" name="Text 21"/>
          <p:cNvSpPr/>
          <p:nvPr/>
        </p:nvSpPr>
        <p:spPr>
          <a:xfrm>
            <a:off x="1400175" y="4406578"/>
            <a:ext cx="175135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Tổng kết đề tài &amp; đề xuất</a:t>
            </a:r>
            <a:endParaRPr lang="en-US" sz="118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6208" y="1605915"/>
            <a:ext cx="3367792" cy="200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25"/>
              </a:lnSpc>
              <a:buNone/>
            </a:pPr>
            <a:r>
              <a:rPr lang="en-US" sz="14625" b="1" dirty="0">
                <a:solidFill>
                  <a:srgbClr val="FFFFFF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25" dirty="0"/>
          </a:p>
        </p:txBody>
      </p:sp>
      <p:sp>
        <p:nvSpPr>
          <p:cNvPr id="3" name="Text 1"/>
          <p:cNvSpPr/>
          <p:nvPr/>
        </p:nvSpPr>
        <p:spPr>
          <a:xfrm>
            <a:off x="7083028" y="3368278"/>
            <a:ext cx="2978944" cy="2978944"/>
          </a:xfrm>
          <a:prstGeom prst="ellipse">
            <a:avLst/>
          </a:prstGeom>
          <a:noFill/>
          <a:ln w="21431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2944" y="1521619"/>
            <a:ext cx="1438684" cy="371475"/>
          </a:xfrm>
          <a:prstGeom prst="roundRect">
            <a:avLst>
              <a:gd name="adj" fmla="val 2561538"/>
            </a:avLst>
          </a:prstGeom>
          <a:noFill/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514475"/>
            <a:ext cx="1452972" cy="416624"/>
          </a:xfrm>
          <a:prstGeom prst="rect">
            <a:avLst/>
          </a:prstGeom>
          <a:noFill/>
          <a:ln/>
        </p:spPr>
        <p:txBody>
          <a:bodyPr wrap="none" lIns="185738" tIns="71438" rIns="185738" bIns="71438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2EC4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PHẦN 01 / 04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85800" y="2143125"/>
            <a:ext cx="5775579" cy="68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61"/>
              </a:lnSpc>
              <a:buNone/>
            </a:pPr>
            <a:r>
              <a:rPr lang="en-US" sz="47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MỞ ĐẦU</a:t>
            </a:r>
            <a:endParaRPr lang="en-US" sz="4725" dirty="0"/>
          </a:p>
        </p:txBody>
      </p:sp>
      <p:sp>
        <p:nvSpPr>
          <p:cNvPr id="7" name="Text 5"/>
          <p:cNvSpPr/>
          <p:nvPr/>
        </p:nvSpPr>
        <p:spPr>
          <a:xfrm>
            <a:off x="685800" y="2973139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3230314"/>
            <a:ext cx="4873145" cy="29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Giới thiệu điểm đến Nha Trang và lý do chọn đề tài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4500563"/>
            <a:ext cx="100013" cy="100013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250" y="4500563"/>
            <a:ext cx="100013" cy="10001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700" y="4500563"/>
            <a:ext cx="100013" cy="10001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0150" y="4500563"/>
            <a:ext cx="100013" cy="10001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1266565" cy="357188"/>
          </a:xfrm>
          <a:prstGeom prst="roundRect">
            <a:avLst>
              <a:gd name="adj" fmla="val 2663996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266565" cy="385763"/>
          </a:xfrm>
          <a:prstGeom prst="rect">
            <a:avLst/>
          </a:prstGeom>
          <a:noFill/>
          <a:ln/>
        </p:spPr>
        <p:txBody>
          <a:bodyPr wrap="none" lIns="171450" tIns="71438" rIns="171450" bIns="71438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GIỚI THIỆU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457200" y="900113"/>
            <a:ext cx="4714875" cy="145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8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Nha Trang</a:t>
            </a:r>
            <a:endParaRPr lang="en-US" sz="3150" dirty="0"/>
          </a:p>
          <a:p>
            <a:pPr algn="l" indent="0" marL="0">
              <a:lnSpc>
                <a:spcPts val="3528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viên ngọc xanh</a:t>
            </a:r>
            <a:endParaRPr lang="en-US" sz="3150" dirty="0"/>
          </a:p>
          <a:p>
            <a:pPr algn="l" indent="0" marL="0">
              <a:lnSpc>
                <a:spcPts val="3528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của biển Đông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2372841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662163"/>
            <a:ext cx="371475" cy="371475"/>
          </a:xfrm>
          <a:prstGeom prst="ellipse">
            <a:avLst/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8278" y="271324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828" dirty="0"/>
          </a:p>
        </p:txBody>
      </p:sp>
      <p:sp>
        <p:nvSpPr>
          <p:cNvPr id="8" name="Text 6"/>
          <p:cNvSpPr/>
          <p:nvPr/>
        </p:nvSpPr>
        <p:spPr>
          <a:xfrm>
            <a:off x="957263" y="2615729"/>
            <a:ext cx="3786188" cy="50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06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Thành phố biển tỉnh Khánh Hòa — miền Trung Việt Nam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57200" y="3269382"/>
            <a:ext cx="371475" cy="371475"/>
          </a:xfrm>
          <a:prstGeom prst="ellipse">
            <a:avLst/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8278" y="3320460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828" dirty="0"/>
          </a:p>
        </p:txBody>
      </p:sp>
      <p:sp>
        <p:nvSpPr>
          <p:cNvPr id="11" name="Text 9"/>
          <p:cNvSpPr/>
          <p:nvPr/>
        </p:nvSpPr>
        <p:spPr>
          <a:xfrm>
            <a:off x="957263" y="3222947"/>
            <a:ext cx="3786188" cy="50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06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Vịnh Nha Trang — một trong những vịnh đẹp nhất thế giới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457200" y="3876601"/>
            <a:ext cx="371475" cy="371475"/>
          </a:xfrm>
          <a:prstGeom prst="ellipse">
            <a:avLst/>
          </a:prstGeom>
          <a:solidFill>
            <a:srgbClr val="149D9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8278" y="3927678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☀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957263" y="3830166"/>
            <a:ext cx="3786188" cy="50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06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Nắng ấm quanh năm — hơn 300 ngày nắng mỗi năm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457200" y="4480247"/>
            <a:ext cx="3108647" cy="357188"/>
          </a:xfrm>
          <a:prstGeom prst="roundRect">
            <a:avLst>
              <a:gd name="adj" fmla="val 2663996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4480247"/>
            <a:ext cx="3108647" cy="385763"/>
          </a:xfrm>
          <a:prstGeom prst="rect">
            <a:avLst/>
          </a:prstGeom>
          <a:noFill/>
          <a:ln/>
        </p:spPr>
        <p:txBody>
          <a:bodyPr wrap="square" lIns="171450" tIns="71438" rIns="171450" bIns="71438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Biển xanh · Cát trắng · Nắng vàng</a:t>
            </a:r>
            <a:endParaRPr lang="en-US" sz="1125" dirty="0"/>
          </a:p>
        </p:txBody>
      </p:sp>
      <p:pic>
        <p:nvPicPr>
          <p:cNvPr id="17" name="Image 0" descr="/tmp/h2p-fit-1792306190625-zm0l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00025"/>
            <a:ext cx="3914775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48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8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Lý do chọn đề tài &amp; mục tiêu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57200" y="1033835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48160"/>
            <a:ext cx="4000500" cy="3338140"/>
          </a:xfrm>
          <a:prstGeom prst="roundRect">
            <a:avLst>
              <a:gd name="adj" fmla="val 5707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1591047"/>
            <a:ext cx="2303971" cy="367903"/>
          </a:xfrm>
          <a:prstGeom prst="roundRect">
            <a:avLst>
              <a:gd name="adj" fmla="val 2586409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7288" y="1691060"/>
            <a:ext cx="1718183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LÝ DO CHỌN ĐỀ TÀI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914400" y="168927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742950" y="229749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9" name="Text 7"/>
          <p:cNvSpPr/>
          <p:nvPr/>
        </p:nvSpPr>
        <p:spPr>
          <a:xfrm>
            <a:off x="1071563" y="2283209"/>
            <a:ext cx="3100388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4"/>
              </a:lnSpc>
              <a:buNone/>
            </a:pPr>
            <a:r>
              <a:rPr lang="en-US" sz="1406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Điểm đến gần gũi, nổi tiếng bậc nhất Việt Nam</a:t>
            </a:r>
            <a:endParaRPr lang="en-US" sz="1406" dirty="0"/>
          </a:p>
        </p:txBody>
      </p:sp>
      <p:sp>
        <p:nvSpPr>
          <p:cNvPr id="10" name="Shape 8"/>
          <p:cNvSpPr/>
          <p:nvPr/>
        </p:nvSpPr>
        <p:spPr>
          <a:xfrm>
            <a:off x="742950" y="2876141"/>
            <a:ext cx="3429000" cy="0"/>
          </a:xfrm>
          <a:prstGeom prst="line">
            <a:avLst/>
          </a:prstGeom>
          <a:noFill/>
          <a:ln w="14288">
            <a:solidFill>
              <a:srgbClr val="D8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300472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12" name="Text 10"/>
          <p:cNvSpPr/>
          <p:nvPr/>
        </p:nvSpPr>
        <p:spPr>
          <a:xfrm>
            <a:off x="1071563" y="2990441"/>
            <a:ext cx="310038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4"/>
              </a:lnSpc>
              <a:buNone/>
            </a:pPr>
            <a:r>
              <a:rPr lang="en-US" sz="1406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 phí hợp lý với học sinh — sinh viên</a:t>
            </a:r>
            <a:endParaRPr lang="en-US" sz="1406" dirty="0"/>
          </a:p>
        </p:txBody>
      </p:sp>
      <p:sp>
        <p:nvSpPr>
          <p:cNvPr id="13" name="Shape 11"/>
          <p:cNvSpPr/>
          <p:nvPr/>
        </p:nvSpPr>
        <p:spPr>
          <a:xfrm>
            <a:off x="742950" y="3583372"/>
            <a:ext cx="3429000" cy="0"/>
          </a:xfrm>
          <a:prstGeom prst="line">
            <a:avLst/>
          </a:prstGeom>
          <a:noFill/>
          <a:ln w="14288">
            <a:solidFill>
              <a:srgbClr val="D8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950" y="371195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15" name="Text 13"/>
          <p:cNvSpPr/>
          <p:nvPr/>
        </p:nvSpPr>
        <p:spPr>
          <a:xfrm>
            <a:off x="1071563" y="3697672"/>
            <a:ext cx="310038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4"/>
              </a:lnSpc>
              <a:buNone/>
            </a:pPr>
            <a:r>
              <a:rPr lang="en-US" sz="1406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Nhiều trải nghiệm: biển đảo, văn hóa, ẩm thực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4686300" y="1348160"/>
            <a:ext cx="4000500" cy="3338140"/>
          </a:xfrm>
          <a:prstGeom prst="roundRect">
            <a:avLst>
              <a:gd name="adj" fmla="val 5707"/>
            </a:avLst>
          </a:prstGeom>
          <a:solidFill>
            <a:srgbClr val="0A3D6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9194" y="1598191"/>
            <a:ext cx="1439466" cy="367903"/>
          </a:xfrm>
          <a:prstGeom prst="roundRect">
            <a:avLst>
              <a:gd name="adj" fmla="val 2586409"/>
            </a:avLst>
          </a:prstGeom>
          <a:noFill/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00675" y="1698203"/>
            <a:ext cx="839391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2EC4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MỤC TIÊU</a:t>
            </a:r>
            <a:endParaRPr lang="en-US" sz="1181" dirty="0"/>
          </a:p>
        </p:txBody>
      </p:sp>
      <p:sp>
        <p:nvSpPr>
          <p:cNvPr id="19" name="Text 17"/>
          <p:cNvSpPr/>
          <p:nvPr/>
        </p:nvSpPr>
        <p:spPr>
          <a:xfrm>
            <a:off x="5157788" y="169641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EC4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972050" y="266361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EC4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21" name="Text 19"/>
          <p:cNvSpPr/>
          <p:nvPr/>
        </p:nvSpPr>
        <p:spPr>
          <a:xfrm>
            <a:off x="5300663" y="2649327"/>
            <a:ext cx="3100388" cy="258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4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Thiết kế tour 3N2Đ hợp lý, chi tiết</a:t>
            </a:r>
            <a:endParaRPr lang="en-US" sz="1406" dirty="0"/>
          </a:p>
        </p:txBody>
      </p:sp>
      <p:sp>
        <p:nvSpPr>
          <p:cNvPr id="22" name="Shape 20"/>
          <p:cNvSpPr/>
          <p:nvPr/>
        </p:nvSpPr>
        <p:spPr>
          <a:xfrm>
            <a:off x="4972050" y="3002942"/>
            <a:ext cx="3429000" cy="0"/>
          </a:xfrm>
          <a:prstGeom prst="line">
            <a:avLst/>
          </a:prstGeom>
          <a:noFill/>
          <a:ln w="14288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2050" y="313153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EC4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24" name="Text 22"/>
          <p:cNvSpPr/>
          <p:nvPr/>
        </p:nvSpPr>
        <p:spPr>
          <a:xfrm>
            <a:off x="5300663" y="3117242"/>
            <a:ext cx="310038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4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Rèn kỹ năng lập kế hoạch du lịch</a:t>
            </a:r>
            <a:endParaRPr lang="en-US" sz="1406" dirty="0"/>
          </a:p>
        </p:txBody>
      </p:sp>
      <p:sp>
        <p:nvSpPr>
          <p:cNvPr id="25" name="Shape 23"/>
          <p:cNvSpPr/>
          <p:nvPr/>
        </p:nvSpPr>
        <p:spPr>
          <a:xfrm>
            <a:off x="4972050" y="3470858"/>
            <a:ext cx="3429000" cy="0"/>
          </a:xfrm>
          <a:prstGeom prst="line">
            <a:avLst/>
          </a:prstGeom>
          <a:noFill/>
          <a:ln w="14288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2050" y="359944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EC4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27" name="Text 25"/>
          <p:cNvSpPr/>
          <p:nvPr/>
        </p:nvSpPr>
        <p:spPr>
          <a:xfrm>
            <a:off x="5300663" y="3585158"/>
            <a:ext cx="310038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4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Rèn kỹ năng làm việc nhóm</a:t>
            </a:r>
            <a:endParaRPr lang="en-US" sz="140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6208" y="1643063"/>
            <a:ext cx="3367792" cy="200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25"/>
              </a:lnSpc>
              <a:buNone/>
            </a:pPr>
            <a:r>
              <a:rPr lang="en-US" sz="14625" b="1" dirty="0">
                <a:solidFill>
                  <a:srgbClr val="0A3D62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25" dirty="0"/>
          </a:p>
        </p:txBody>
      </p:sp>
      <p:sp>
        <p:nvSpPr>
          <p:cNvPr id="3" name="Text 1"/>
          <p:cNvSpPr/>
          <p:nvPr/>
        </p:nvSpPr>
        <p:spPr>
          <a:xfrm>
            <a:off x="514350" y="1256854"/>
            <a:ext cx="1439912" cy="367903"/>
          </a:xfrm>
          <a:prstGeom prst="roundRect">
            <a:avLst>
              <a:gd name="adj" fmla="val 2586409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256854"/>
            <a:ext cx="1439912" cy="397335"/>
          </a:xfrm>
          <a:prstGeom prst="rect">
            <a:avLst/>
          </a:prstGeom>
          <a:noFill/>
          <a:ln/>
        </p:spPr>
        <p:txBody>
          <a:bodyPr wrap="none" lIns="171450" tIns="71438" rIns="171450" bIns="71438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PHẦN 02 / 04</a:t>
            </a:r>
            <a:endParaRPr lang="en-US" sz="1181" dirty="0"/>
          </a:p>
        </p:txBody>
      </p:sp>
      <p:sp>
        <p:nvSpPr>
          <p:cNvPr id="5" name="Text 3"/>
          <p:cNvSpPr/>
          <p:nvPr/>
        </p:nvSpPr>
        <p:spPr>
          <a:xfrm>
            <a:off x="514350" y="1839069"/>
            <a:ext cx="6662339" cy="139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3"/>
              </a:lnSpc>
              <a:buNone/>
            </a:pPr>
            <a:r>
              <a:rPr lang="en-US" sz="4725" b="1" spc="-56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THỰC TRẠNG</a:t>
            </a:r>
            <a:endParaRPr lang="en-US" sz="4725" dirty="0"/>
          </a:p>
          <a:p>
            <a:pPr algn="l" indent="0" marL="0">
              <a:lnSpc>
                <a:spcPts val="5103"/>
              </a:lnSpc>
              <a:buNone/>
            </a:pPr>
            <a:r>
              <a:rPr lang="en-US" sz="4725" b="1" spc="-56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 LỊCH NHA TRANG</a:t>
            </a:r>
            <a:endParaRPr lang="en-US" sz="4725" dirty="0"/>
          </a:p>
        </p:txBody>
      </p:sp>
      <p:sp>
        <p:nvSpPr>
          <p:cNvPr id="6" name="Text 4"/>
          <p:cNvSpPr/>
          <p:nvPr/>
        </p:nvSpPr>
        <p:spPr>
          <a:xfrm>
            <a:off x="514350" y="3349526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3606701"/>
            <a:ext cx="6541206" cy="30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Tiềm năng nổi bật và những thách thức hiện nay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14350" y="4586288"/>
            <a:ext cx="100013" cy="100013"/>
          </a:xfrm>
          <a:prstGeom prst="ellipse">
            <a:avLst/>
          </a:prstGeom>
          <a:solidFill>
            <a:srgbClr val="D8E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4586288"/>
            <a:ext cx="100013" cy="100013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250" y="4586288"/>
            <a:ext cx="100013" cy="100013"/>
          </a:xfrm>
          <a:prstGeom prst="ellipse">
            <a:avLst/>
          </a:prstGeom>
          <a:solidFill>
            <a:srgbClr val="D8E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700" y="4586288"/>
            <a:ext cx="100013" cy="100013"/>
          </a:xfrm>
          <a:prstGeom prst="ellipse">
            <a:avLst/>
          </a:prstGeom>
          <a:solidFill>
            <a:srgbClr val="D8E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1313222" cy="367903"/>
          </a:xfrm>
          <a:prstGeom prst="roundRect">
            <a:avLst>
              <a:gd name="adj" fmla="val 2586409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28625"/>
            <a:ext cx="1313222" cy="397335"/>
          </a:xfrm>
          <a:prstGeom prst="rect">
            <a:avLst/>
          </a:prstGeom>
          <a:noFill/>
          <a:ln/>
        </p:spPr>
        <p:txBody>
          <a:bodyPr wrap="none" lIns="171450" tIns="71438" rIns="171450" bIns="71438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TIỀM NĂNG</a:t>
            </a:r>
            <a:endParaRPr lang="en-US" sz="1181" dirty="0"/>
          </a:p>
        </p:txBody>
      </p:sp>
      <p:sp>
        <p:nvSpPr>
          <p:cNvPr id="4" name="Text 2"/>
          <p:cNvSpPr/>
          <p:nvPr/>
        </p:nvSpPr>
        <p:spPr>
          <a:xfrm>
            <a:off x="457200" y="939403"/>
            <a:ext cx="8636000" cy="48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8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Điểm đến hút khách bậc nhất Việt Nam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516038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344" y="1837506"/>
            <a:ext cx="2576438" cy="2545184"/>
          </a:xfrm>
          <a:prstGeom prst="roundRect">
            <a:avLst>
              <a:gd name="adj" fmla="val 7485"/>
            </a:avLst>
          </a:prstGeom>
          <a:solidFill>
            <a:srgbClr val="FFFFFF"/>
          </a:solidFill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23963" y="2317142"/>
            <a:ext cx="457200" cy="457200"/>
          </a:xfrm>
          <a:prstGeom prst="ellipse">
            <a:avLst/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76469" y="2369649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2391" dirty="0"/>
          </a:p>
        </p:txBody>
      </p:sp>
      <p:sp>
        <p:nvSpPr>
          <p:cNvPr id="9" name="Text 7"/>
          <p:cNvSpPr/>
          <p:nvPr/>
        </p:nvSpPr>
        <p:spPr>
          <a:xfrm>
            <a:off x="382763" y="2902930"/>
            <a:ext cx="2739600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44"/>
              </a:lnSpc>
              <a:buNone/>
            </a:pPr>
            <a:r>
              <a:rPr lang="en-US" sz="3375" b="1" spc="-56" kern="0" dirty="0">
                <a:solidFill>
                  <a:srgbClr val="149D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16,4 triệu</a:t>
            </a:r>
            <a:endParaRPr lang="en-US" sz="3375" dirty="0"/>
          </a:p>
        </p:txBody>
      </p:sp>
      <p:sp>
        <p:nvSpPr>
          <p:cNvPr id="10" name="Text 8"/>
          <p:cNvSpPr/>
          <p:nvPr/>
        </p:nvSpPr>
        <p:spPr>
          <a:xfrm>
            <a:off x="642938" y="3438711"/>
            <a:ext cx="2219251" cy="50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8"/>
              </a:lnSpc>
              <a:buNone/>
            </a:pPr>
            <a:r>
              <a:rPr lang="en-US" sz="1406" b="1" dirty="0">
                <a:solidFill>
                  <a:srgbClr val="5671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lượt khách đến Khánh Hòa năm 2025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3276526" y="1830363"/>
            <a:ext cx="2590837" cy="2559472"/>
          </a:xfrm>
          <a:prstGeom prst="roundRect">
            <a:avLst>
              <a:gd name="adj" fmla="val 74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43288" y="2433228"/>
            <a:ext cx="457200" cy="4572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95795" y="2485735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391" dirty="0"/>
          </a:p>
        </p:txBody>
      </p:sp>
      <p:sp>
        <p:nvSpPr>
          <p:cNvPr id="14" name="Text 12"/>
          <p:cNvSpPr/>
          <p:nvPr/>
        </p:nvSpPr>
        <p:spPr>
          <a:xfrm>
            <a:off x="3358935" y="3019016"/>
            <a:ext cx="2426017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44"/>
              </a:lnSpc>
              <a:buNone/>
            </a:pPr>
            <a:r>
              <a:rPr lang="en-US" sz="3375" b="1" spc="-56" kern="0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5,5 triệu</a:t>
            </a:r>
            <a:endParaRPr lang="en-US" sz="3375" dirty="0"/>
          </a:p>
        </p:txBody>
      </p:sp>
      <p:sp>
        <p:nvSpPr>
          <p:cNvPr id="15" name="Text 13"/>
          <p:cNvSpPr/>
          <p:nvPr/>
        </p:nvSpPr>
        <p:spPr>
          <a:xfrm>
            <a:off x="3723579" y="3554797"/>
            <a:ext cx="1696618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8"/>
              </a:lnSpc>
              <a:buNone/>
            </a:pPr>
            <a:r>
              <a:rPr lang="en-US" sz="1406" b="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lượt khách quốc tế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6095963" y="1830363"/>
            <a:ext cx="2590726" cy="2559472"/>
          </a:xfrm>
          <a:prstGeom prst="roundRect">
            <a:avLst>
              <a:gd name="adj" fmla="val 74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62726" y="2433228"/>
            <a:ext cx="457200" cy="4572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15232" y="2485735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2391" dirty="0"/>
          </a:p>
        </p:txBody>
      </p:sp>
      <p:sp>
        <p:nvSpPr>
          <p:cNvPr id="19" name="Text 17"/>
          <p:cNvSpPr/>
          <p:nvPr/>
        </p:nvSpPr>
        <p:spPr>
          <a:xfrm>
            <a:off x="6512130" y="3019016"/>
            <a:ext cx="1758391" cy="486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44"/>
              </a:lnSpc>
              <a:buNone/>
            </a:pPr>
            <a:r>
              <a:rPr lang="en-US" sz="3375" b="1" spc="-56" kern="0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29</a:t>
            </a:r>
            <a:endParaRPr lang="en-US" sz="3375" dirty="0"/>
          </a:p>
        </p:txBody>
      </p:sp>
      <p:sp>
        <p:nvSpPr>
          <p:cNvPr id="20" name="Text 18"/>
          <p:cNvSpPr/>
          <p:nvPr/>
        </p:nvSpPr>
        <p:spPr>
          <a:xfrm>
            <a:off x="6413042" y="3554797"/>
            <a:ext cx="1956455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8"/>
              </a:lnSpc>
              <a:buNone/>
            </a:pPr>
            <a:r>
              <a:rPr lang="en-US" sz="1406" b="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vịnh đẹp nhất thế giới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457200" y="4532709"/>
            <a:ext cx="86360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Nguồn: Hệ thống thống kê du lịch Việt Nam — 2025</a:t>
            </a:r>
            <a:endParaRPr lang="en-US" sz="9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1485230" cy="367903"/>
          </a:xfrm>
          <a:prstGeom prst="roundRect">
            <a:avLst>
              <a:gd name="adj" fmla="val 2586409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28625"/>
            <a:ext cx="1485230" cy="397335"/>
          </a:xfrm>
          <a:prstGeom prst="rect">
            <a:avLst/>
          </a:prstGeom>
          <a:noFill/>
          <a:ln/>
        </p:spPr>
        <p:txBody>
          <a:bodyPr wrap="none" lIns="171450" tIns="71438" rIns="171450" bIns="71438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THÁCH THỨC</a:t>
            </a:r>
            <a:endParaRPr lang="en-US" sz="1181" dirty="0"/>
          </a:p>
        </p:txBody>
      </p:sp>
      <p:sp>
        <p:nvSpPr>
          <p:cNvPr id="4" name="Text 2"/>
          <p:cNvSpPr/>
          <p:nvPr/>
        </p:nvSpPr>
        <p:spPr>
          <a:xfrm>
            <a:off x="457200" y="939403"/>
            <a:ext cx="8636000" cy="48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8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Vấn đề cần lưu ý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516038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344" y="1823219"/>
            <a:ext cx="4014788" cy="1349387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088" y="2219251"/>
            <a:ext cx="557213" cy="557213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290688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2813" dirty="0"/>
          </a:p>
        </p:txBody>
      </p:sp>
      <p:sp>
        <p:nvSpPr>
          <p:cNvPr id="9" name="Text 7"/>
          <p:cNvSpPr/>
          <p:nvPr/>
        </p:nvSpPr>
        <p:spPr>
          <a:xfrm>
            <a:off x="1443038" y="2246598"/>
            <a:ext cx="2124055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Mùa cao điểm quá tải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443038" y="2546635"/>
            <a:ext cx="2124055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Đông khách vào hè và dịp lễ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4664869" y="1823219"/>
            <a:ext cx="4014788" cy="1349387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0613" y="2219251"/>
            <a:ext cx="557213" cy="557213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2050" y="2290688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2813" dirty="0"/>
          </a:p>
        </p:txBody>
      </p:sp>
      <p:sp>
        <p:nvSpPr>
          <p:cNvPr id="14" name="Text 12"/>
          <p:cNvSpPr/>
          <p:nvPr/>
        </p:nvSpPr>
        <p:spPr>
          <a:xfrm>
            <a:off x="5643563" y="2246598"/>
            <a:ext cx="1959620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Cạnh tranh mạnh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643563" y="2546635"/>
            <a:ext cx="1959620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Nhiều điểm biển mới nổi lên</a:t>
            </a:r>
            <a:endParaRPr lang="en-US" sz="1181" dirty="0"/>
          </a:p>
        </p:txBody>
      </p:sp>
      <p:sp>
        <p:nvSpPr>
          <p:cNvPr id="16" name="Text 14"/>
          <p:cNvSpPr/>
          <p:nvPr/>
        </p:nvSpPr>
        <p:spPr>
          <a:xfrm>
            <a:off x="464344" y="3358344"/>
            <a:ext cx="4014788" cy="1349387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0088" y="3754375"/>
            <a:ext cx="557213" cy="557213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1525" y="3825813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2813" dirty="0"/>
          </a:p>
        </p:txBody>
      </p:sp>
      <p:sp>
        <p:nvSpPr>
          <p:cNvPr id="19" name="Text 17"/>
          <p:cNvSpPr/>
          <p:nvPr/>
        </p:nvSpPr>
        <p:spPr>
          <a:xfrm>
            <a:off x="1443038" y="3781723"/>
            <a:ext cx="2193790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Giá dịch vụ biến động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443038" y="4081760"/>
            <a:ext cx="2193790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Tăng cao vào mùa du lịch</a:t>
            </a:r>
            <a:endParaRPr lang="en-US" sz="1181" dirty="0"/>
          </a:p>
        </p:txBody>
      </p:sp>
      <p:sp>
        <p:nvSpPr>
          <p:cNvPr id="21" name="Text 19"/>
          <p:cNvSpPr/>
          <p:nvPr/>
        </p:nvSpPr>
        <p:spPr>
          <a:xfrm>
            <a:off x="4664869" y="3358344"/>
            <a:ext cx="4014788" cy="1349387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0613" y="3754375"/>
            <a:ext cx="557213" cy="557213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72050" y="3825813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2813" dirty="0"/>
          </a:p>
        </p:txBody>
      </p:sp>
      <p:sp>
        <p:nvSpPr>
          <p:cNvPr id="24" name="Text 22"/>
          <p:cNvSpPr/>
          <p:nvPr/>
        </p:nvSpPr>
        <p:spPr>
          <a:xfrm>
            <a:off x="5643563" y="3781723"/>
            <a:ext cx="243956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Sản phẩm chưa đa dạng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643563" y="4081760"/>
            <a:ext cx="2439563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81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Cần làm mới trải nghiệm</a:t>
            </a:r>
            <a:endParaRPr lang="en-US" sz="118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6208" y="1643063"/>
            <a:ext cx="3367792" cy="200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25"/>
              </a:lnSpc>
              <a:buNone/>
            </a:pPr>
            <a:r>
              <a:rPr lang="en-US" sz="14625" b="1" dirty="0">
                <a:solidFill>
                  <a:srgbClr val="FFFFFF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25" dirty="0"/>
          </a:p>
        </p:txBody>
      </p:sp>
      <p:sp>
        <p:nvSpPr>
          <p:cNvPr id="3" name="Text 1"/>
          <p:cNvSpPr/>
          <p:nvPr/>
        </p:nvSpPr>
        <p:spPr>
          <a:xfrm>
            <a:off x="521494" y="1336328"/>
            <a:ext cx="1454200" cy="367903"/>
          </a:xfrm>
          <a:prstGeom prst="roundRect">
            <a:avLst>
              <a:gd name="adj" fmla="val 2586409"/>
            </a:avLst>
          </a:prstGeom>
          <a:noFill/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329184"/>
            <a:ext cx="1468487" cy="412766"/>
          </a:xfrm>
          <a:prstGeom prst="rect">
            <a:avLst/>
          </a:prstGeom>
          <a:noFill/>
          <a:ln/>
        </p:spPr>
        <p:txBody>
          <a:bodyPr wrap="none" lIns="171450" tIns="64294" rIns="171450" bIns="64294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2EC4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PHẦN 03 / 04</a:t>
            </a:r>
            <a:endParaRPr lang="en-US" sz="1181" dirty="0"/>
          </a:p>
        </p:txBody>
      </p:sp>
      <p:sp>
        <p:nvSpPr>
          <p:cNvPr id="5" name="Text 3"/>
          <p:cNvSpPr/>
          <p:nvPr/>
        </p:nvSpPr>
        <p:spPr>
          <a:xfrm>
            <a:off x="514350" y="1925687"/>
            <a:ext cx="5270211" cy="68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61"/>
              </a:lnSpc>
              <a:buNone/>
            </a:pPr>
            <a:r>
              <a:rPr lang="en-US" sz="4725" b="1" spc="-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THIẾT KẾ TOUR</a:t>
            </a:r>
            <a:endParaRPr lang="en-US" sz="4725" dirty="0"/>
          </a:p>
        </p:txBody>
      </p:sp>
      <p:sp>
        <p:nvSpPr>
          <p:cNvPr id="6" name="Text 4"/>
          <p:cNvSpPr/>
          <p:nvPr/>
        </p:nvSpPr>
        <p:spPr>
          <a:xfrm>
            <a:off x="514350" y="2669977"/>
            <a:ext cx="5625219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spc="169" kern="0" dirty="0">
                <a:solidFill>
                  <a:srgbClr val="2EC4B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NGÀY 2 ĐÊM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514350" y="3277195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534370"/>
            <a:ext cx="4856509" cy="30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Lịch trình — Điểm đến — Chi phí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14350" y="4586288"/>
            <a:ext cx="100013" cy="100013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4586288"/>
            <a:ext cx="100013" cy="100013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250" y="4586288"/>
            <a:ext cx="100013" cy="100013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28700" y="4586288"/>
            <a:ext cx="100013" cy="100013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7248"/>
            <a:ext cx="1259376" cy="350644"/>
          </a:xfrm>
          <a:prstGeom prst="roundRect">
            <a:avLst>
              <a:gd name="adj" fmla="val 2713714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21365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149D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TỔNG QUAN</a:t>
            </a:r>
            <a:endParaRPr lang="en-US" sz="956" dirty="0"/>
          </a:p>
        </p:txBody>
      </p:sp>
      <p:sp>
        <p:nvSpPr>
          <p:cNvPr id="4" name="Text 2"/>
          <p:cNvSpPr/>
          <p:nvPr/>
        </p:nvSpPr>
        <p:spPr>
          <a:xfrm>
            <a:off x="457200" y="853678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Thông tin tour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407988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693738"/>
            <a:ext cx="4029075" cy="1314115"/>
          </a:xfrm>
          <a:prstGeom prst="roundRect">
            <a:avLst>
              <a:gd name="adj" fmla="val 14496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088" y="2093565"/>
            <a:ext cx="514350" cy="514350"/>
          </a:xfrm>
          <a:prstGeom prst="roundRect">
            <a:avLst>
              <a:gd name="adj" fmla="val 18516667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0811" y="2164288"/>
            <a:ext cx="37290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531" dirty="0"/>
          </a:p>
        </p:txBody>
      </p:sp>
      <p:sp>
        <p:nvSpPr>
          <p:cNvPr id="9" name="Text 7"/>
          <p:cNvSpPr/>
          <p:nvPr/>
        </p:nvSpPr>
        <p:spPr>
          <a:xfrm>
            <a:off x="1385888" y="2091779"/>
            <a:ext cx="1742902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THỜI GIAN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1385888" y="2359670"/>
            <a:ext cx="148532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ngày 2 đêm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657725" y="1693738"/>
            <a:ext cx="4029075" cy="1314115"/>
          </a:xfrm>
          <a:prstGeom prst="roundRect">
            <a:avLst>
              <a:gd name="adj" fmla="val 14496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0613" y="2093565"/>
            <a:ext cx="514350" cy="514350"/>
          </a:xfrm>
          <a:prstGeom prst="roundRect">
            <a:avLst>
              <a:gd name="adj" fmla="val 18516667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1336" y="2164288"/>
            <a:ext cx="37290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2531" dirty="0"/>
          </a:p>
        </p:txBody>
      </p:sp>
      <p:sp>
        <p:nvSpPr>
          <p:cNvPr id="14" name="Text 12"/>
          <p:cNvSpPr/>
          <p:nvPr/>
        </p:nvSpPr>
        <p:spPr>
          <a:xfrm>
            <a:off x="5586413" y="2091779"/>
            <a:ext cx="2857500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 CHUYỂN</a:t>
            </a:r>
            <a:endParaRPr lang="en-US" sz="1181" dirty="0"/>
          </a:p>
        </p:txBody>
      </p:sp>
      <p:sp>
        <p:nvSpPr>
          <p:cNvPr id="15" name="Text 13"/>
          <p:cNvSpPr/>
          <p:nvPr/>
        </p:nvSpPr>
        <p:spPr>
          <a:xfrm>
            <a:off x="5586413" y="2359670"/>
            <a:ext cx="2565555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Xe giường nằm · Máy bay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457200" y="3179304"/>
            <a:ext cx="4029075" cy="1564146"/>
          </a:xfrm>
          <a:prstGeom prst="roundRect">
            <a:avLst>
              <a:gd name="adj" fmla="val 12179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0088" y="3704146"/>
            <a:ext cx="514350" cy="514350"/>
          </a:xfrm>
          <a:prstGeom prst="roundRect">
            <a:avLst>
              <a:gd name="adj" fmla="val 18516667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0811" y="3774869"/>
            <a:ext cx="37290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2531" dirty="0"/>
          </a:p>
        </p:txBody>
      </p:sp>
      <p:sp>
        <p:nvSpPr>
          <p:cNvPr id="19" name="Text 17"/>
          <p:cNvSpPr/>
          <p:nvPr/>
        </p:nvSpPr>
        <p:spPr>
          <a:xfrm>
            <a:off x="1385888" y="3577344"/>
            <a:ext cx="2857500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ĐỐI TƯỢNG</a:t>
            </a:r>
            <a:endParaRPr lang="en-US" sz="1181" dirty="0"/>
          </a:p>
        </p:txBody>
      </p:sp>
      <p:sp>
        <p:nvSpPr>
          <p:cNvPr id="20" name="Text 18"/>
          <p:cNvSpPr/>
          <p:nvPr/>
        </p:nvSpPr>
        <p:spPr>
          <a:xfrm>
            <a:off x="1385888" y="3845235"/>
            <a:ext cx="2857500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Học sinh · Sinh viên · Nhóm bạn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4657725" y="3179304"/>
            <a:ext cx="4029075" cy="1564146"/>
          </a:xfrm>
          <a:prstGeom prst="roundRect">
            <a:avLst>
              <a:gd name="adj" fmla="val 12179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0613" y="3704146"/>
            <a:ext cx="514350" cy="514350"/>
          </a:xfrm>
          <a:prstGeom prst="roundRect">
            <a:avLst>
              <a:gd name="adj" fmla="val 18516667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71336" y="3774869"/>
            <a:ext cx="37290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149D9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☂</a:t>
            </a:r>
            <a:endParaRPr lang="en-US" sz="2531" dirty="0"/>
          </a:p>
        </p:txBody>
      </p:sp>
      <p:sp>
        <p:nvSpPr>
          <p:cNvPr id="24" name="Text 22"/>
          <p:cNvSpPr/>
          <p:nvPr/>
        </p:nvSpPr>
        <p:spPr>
          <a:xfrm>
            <a:off x="5586413" y="3702360"/>
            <a:ext cx="2857500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113" kern="0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TRẢI NGHIỆM</a:t>
            </a:r>
            <a:endParaRPr lang="en-US" sz="1181" dirty="0"/>
          </a:p>
        </p:txBody>
      </p:sp>
      <p:sp>
        <p:nvSpPr>
          <p:cNvPr id="25" name="Text 23"/>
          <p:cNvSpPr/>
          <p:nvPr/>
        </p:nvSpPr>
        <p:spPr>
          <a:xfrm>
            <a:off x="5586413" y="3970251"/>
            <a:ext cx="2857500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Biển đảo · Văn hóa · Ẩm thực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58673"/>
            <a:ext cx="1219639" cy="350644"/>
          </a:xfrm>
          <a:prstGeom prst="roundRect">
            <a:avLst>
              <a:gd name="adj" fmla="val 2713714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117391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149D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LỊCH TRÌNH</a:t>
            </a:r>
            <a:endParaRPr lang="en-US" sz="956" dirty="0"/>
          </a:p>
        </p:txBody>
      </p:sp>
      <p:sp>
        <p:nvSpPr>
          <p:cNvPr id="4" name="Text 2"/>
          <p:cNvSpPr/>
          <p:nvPr/>
        </p:nvSpPr>
        <p:spPr>
          <a:xfrm>
            <a:off x="457200" y="810816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Hành trình 3 ngày 2 đêm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350838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344" y="1600870"/>
            <a:ext cx="2614613" cy="3164012"/>
          </a:xfrm>
          <a:prstGeom prst="roundRect">
            <a:avLst>
              <a:gd name="adj" fmla="val 7286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92306193459-225n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88" y="1722313"/>
            <a:ext cx="2371725" cy="9286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928" y="2723924"/>
            <a:ext cx="810101" cy="279206"/>
          </a:xfrm>
          <a:prstGeom prst="roundRect">
            <a:avLst>
              <a:gd name="adj" fmla="val 3408048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5788" y="2736726"/>
            <a:ext cx="764381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NGÀY 1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585788" y="3061767"/>
            <a:ext cx="237172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KHÁM PHÁ THÀNH PHỐ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585788" y="3363144"/>
            <a:ext cx="2371725" cy="1005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›Đón đoàn, nhận phòng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›Tháp Bà Ponagar — Chùa Long Sơn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›Tắm biển · Hải sản tối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64694" y="1600870"/>
            <a:ext cx="2614613" cy="3164012"/>
          </a:xfrm>
          <a:prstGeom prst="roundRect">
            <a:avLst>
              <a:gd name="adj" fmla="val 7286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tmp/h2p-fit-1792306193444-jtff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8" y="1722313"/>
            <a:ext cx="2371725" cy="9286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3278" y="2723924"/>
            <a:ext cx="810101" cy="279206"/>
          </a:xfrm>
          <a:prstGeom prst="roundRect">
            <a:avLst>
              <a:gd name="adj" fmla="val 3408048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386138" y="2736726"/>
            <a:ext cx="764381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NGÀY 2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3386138" y="3061767"/>
            <a:ext cx="237172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 THUYỀN ĐẢO</a:t>
            </a:r>
            <a:endParaRPr lang="en-US" sz="1575" dirty="0"/>
          </a:p>
        </p:txBody>
      </p:sp>
      <p:sp>
        <p:nvSpPr>
          <p:cNvPr id="17" name="Text 13"/>
          <p:cNvSpPr/>
          <p:nvPr/>
        </p:nvSpPr>
        <p:spPr>
          <a:xfrm>
            <a:off x="3386138" y="3363144"/>
            <a:ext cx="2371725" cy="798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›Hòn Mun — ngắm san hô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›Hòn Tằm — thể thao biển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›Chiều: Vinpearl · phố đi bộ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065044" y="1600870"/>
            <a:ext cx="2614613" cy="3164012"/>
          </a:xfrm>
          <a:prstGeom prst="roundRect">
            <a:avLst>
              <a:gd name="adj" fmla="val 7286"/>
            </a:avLst>
          </a:prstGeom>
          <a:solidFill>
            <a:srgbClr val="FFFFFF"/>
          </a:solidFill>
          <a:ln w="14288">
            <a:solidFill>
              <a:srgbClr val="D8E7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/tmp/h2p-fit-1792306193477-on6tg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88" y="1722313"/>
            <a:ext cx="2371725" cy="9286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63628" y="2723924"/>
            <a:ext cx="810101" cy="279206"/>
          </a:xfrm>
          <a:prstGeom prst="roundRect">
            <a:avLst>
              <a:gd name="adj" fmla="val 3408048"/>
            </a:avLst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186488" y="2736726"/>
            <a:ext cx="764381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NGÀY 3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6186488" y="3061767"/>
            <a:ext cx="2371725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BIỂN &amp; TẠM BIỆT</a:t>
            </a:r>
            <a:endParaRPr lang="en-US" sz="1575" dirty="0"/>
          </a:p>
        </p:txBody>
      </p:sp>
      <p:sp>
        <p:nvSpPr>
          <p:cNvPr id="23" name="Text 18"/>
          <p:cNvSpPr/>
          <p:nvPr/>
        </p:nvSpPr>
        <p:spPr>
          <a:xfrm>
            <a:off x="6186488" y="3363144"/>
            <a:ext cx="2371725" cy="798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›Bãi Dài — biển hoang sơ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›Chợ Đầm — mua đặc sản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›Tiễn đoàn, kết thúc tour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7248"/>
            <a:ext cx="934001" cy="350644"/>
          </a:xfrm>
          <a:prstGeom prst="roundRect">
            <a:avLst>
              <a:gd name="adj" fmla="val 2713714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8828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149D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 PHÍ</a:t>
            </a:r>
            <a:endParaRPr lang="en-US" sz="956" dirty="0"/>
          </a:p>
        </p:txBody>
      </p:sp>
      <p:sp>
        <p:nvSpPr>
          <p:cNvPr id="4" name="Text 2"/>
          <p:cNvSpPr/>
          <p:nvPr/>
        </p:nvSpPr>
        <p:spPr>
          <a:xfrm>
            <a:off x="457200" y="839391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Chi phí dự trù / 1 người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379413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622301"/>
            <a:ext cx="4773141" cy="502072"/>
          </a:xfrm>
          <a:prstGeom prst="roundRect">
            <a:avLst>
              <a:gd name="adj" fmla="val 379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938" y="1701887"/>
            <a:ext cx="342900" cy="3429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9728" y="173867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828" dirty="0"/>
          </a:p>
        </p:txBody>
      </p:sp>
      <p:sp>
        <p:nvSpPr>
          <p:cNvPr id="9" name="Text 7"/>
          <p:cNvSpPr/>
          <p:nvPr/>
        </p:nvSpPr>
        <p:spPr>
          <a:xfrm>
            <a:off x="1114425" y="1739392"/>
            <a:ext cx="36953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Vận chuyển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3923375" y="1723318"/>
            <a:ext cx="116046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900.000đ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57200" y="2210098"/>
            <a:ext cx="4773141" cy="502072"/>
          </a:xfrm>
          <a:prstGeom prst="roundRect">
            <a:avLst>
              <a:gd name="adj" fmla="val 379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2938" y="2289683"/>
            <a:ext cx="342900" cy="3429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9728" y="232647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1114425" y="2327188"/>
            <a:ext cx="36953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Lưu trú 2 đêm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3923375" y="2311115"/>
            <a:ext cx="116046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700.000đ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457200" y="2797894"/>
            <a:ext cx="4773141" cy="502072"/>
          </a:xfrm>
          <a:prstGeom prst="roundRect">
            <a:avLst>
              <a:gd name="adj" fmla="val 379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2938" y="2877480"/>
            <a:ext cx="342900" cy="3429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728" y="2914270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828" dirty="0"/>
          </a:p>
        </p:txBody>
      </p:sp>
      <p:sp>
        <p:nvSpPr>
          <p:cNvPr id="19" name="Text 17"/>
          <p:cNvSpPr/>
          <p:nvPr/>
        </p:nvSpPr>
        <p:spPr>
          <a:xfrm>
            <a:off x="1114425" y="2914985"/>
            <a:ext cx="393017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Ăn uống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3923375" y="2898911"/>
            <a:ext cx="116046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500.000đ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457200" y="3385691"/>
            <a:ext cx="4773141" cy="502072"/>
          </a:xfrm>
          <a:prstGeom prst="roundRect">
            <a:avLst>
              <a:gd name="adj" fmla="val 379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2938" y="3465277"/>
            <a:ext cx="342900" cy="3429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9728" y="350206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4" name="Text 22"/>
          <p:cNvSpPr/>
          <p:nvPr/>
        </p:nvSpPr>
        <p:spPr>
          <a:xfrm>
            <a:off x="1114425" y="3502782"/>
            <a:ext cx="36953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Vé tham quan</a:t>
            </a:r>
            <a:endParaRPr lang="en-US" sz="1406" dirty="0"/>
          </a:p>
        </p:txBody>
      </p:sp>
      <p:sp>
        <p:nvSpPr>
          <p:cNvPr id="25" name="Text 23"/>
          <p:cNvSpPr/>
          <p:nvPr/>
        </p:nvSpPr>
        <p:spPr>
          <a:xfrm>
            <a:off x="3923375" y="3486708"/>
            <a:ext cx="116046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300.000đ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457200" y="3973488"/>
            <a:ext cx="4773141" cy="502072"/>
          </a:xfrm>
          <a:prstGeom prst="roundRect">
            <a:avLst>
              <a:gd name="adj" fmla="val 37943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2938" y="4053074"/>
            <a:ext cx="342900" cy="342900"/>
          </a:xfrm>
          <a:prstGeom prst="ellipse">
            <a:avLst/>
          </a:prstGeom>
          <a:solidFill>
            <a:srgbClr val="E3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9728" y="408986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A3D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828" dirty="0"/>
          </a:p>
        </p:txBody>
      </p:sp>
      <p:sp>
        <p:nvSpPr>
          <p:cNvPr id="29" name="Text 27"/>
          <p:cNvSpPr/>
          <p:nvPr/>
        </p:nvSpPr>
        <p:spPr>
          <a:xfrm>
            <a:off x="1114425" y="4090578"/>
            <a:ext cx="393017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Dự phòng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3923375" y="4074505"/>
            <a:ext cx="116046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0A3D6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100.000đ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5401791" y="1622301"/>
            <a:ext cx="3285009" cy="2853258"/>
          </a:xfrm>
          <a:prstGeom prst="roundRect">
            <a:avLst>
              <a:gd name="adj" fmla="val 6677"/>
            </a:avLst>
          </a:prstGeom>
          <a:solidFill>
            <a:srgbClr val="0A3D6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45031" y="2262113"/>
            <a:ext cx="2798530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181" b="1" spc="169" kern="0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TỔNG CHI PHÍ DỰ KIẾN</a:t>
            </a:r>
            <a:endParaRPr lang="en-US" sz="1181" dirty="0"/>
          </a:p>
        </p:txBody>
      </p:sp>
      <p:sp>
        <p:nvSpPr>
          <p:cNvPr id="33" name="Text 31"/>
          <p:cNvSpPr/>
          <p:nvPr/>
        </p:nvSpPr>
        <p:spPr>
          <a:xfrm>
            <a:off x="5530293" y="2615729"/>
            <a:ext cx="3027893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13"/>
              </a:lnSpc>
              <a:buNone/>
            </a:pPr>
            <a:r>
              <a:rPr lang="en-US" sz="3375" b="1" dirty="0">
                <a:solidFill>
                  <a:srgbClr val="4DE3D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2.500.000đ</a:t>
            </a:r>
            <a:endParaRPr lang="en-US" sz="3375" dirty="0"/>
          </a:p>
        </p:txBody>
      </p:sp>
      <p:sp>
        <p:nvSpPr>
          <p:cNvPr id="34" name="Text 32"/>
          <p:cNvSpPr/>
          <p:nvPr/>
        </p:nvSpPr>
        <p:spPr>
          <a:xfrm>
            <a:off x="6844271" y="3244379"/>
            <a:ext cx="400050" cy="42863"/>
          </a:xfrm>
          <a:prstGeom prst="roundRect">
            <a:avLst>
              <a:gd name="adj" fmla="val 22199741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29858" y="3415829"/>
            <a:ext cx="2428875" cy="4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Mức phí phù hợp nhóm học sinh — sinh viên</a:t>
            </a:r>
            <a:endParaRPr lang="en-US" sz="1181" dirty="0"/>
          </a:p>
        </p:txBody>
      </p:sp>
      <p:sp>
        <p:nvSpPr>
          <p:cNvPr id="36" name="Text 34"/>
          <p:cNvSpPr/>
          <p:nvPr/>
        </p:nvSpPr>
        <p:spPr>
          <a:xfrm>
            <a:off x="457200" y="45880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671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28650" y="4561284"/>
            <a:ext cx="805815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5671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Số liệu là dự toán tham khảo của nhóm</a:t>
            </a:r>
            <a:endParaRPr lang="en-US" sz="95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2223604" cy="325041"/>
          </a:xfrm>
          <a:prstGeom prst="roundRect">
            <a:avLst>
              <a:gd name="adj" fmla="val 2927469"/>
            </a:avLst>
          </a:prstGeom>
          <a:solidFill>
            <a:srgbClr val="DFF6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222360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spc="113" kern="0" dirty="0">
                <a:solidFill>
                  <a:srgbClr val="149D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PHẦN 04 / 04 — KẾT LUẬN</a:t>
            </a:r>
            <a:endParaRPr lang="en-US" sz="956" dirty="0"/>
          </a:p>
        </p:txBody>
      </p:sp>
      <p:sp>
        <p:nvSpPr>
          <p:cNvPr id="4" name="Text 2"/>
          <p:cNvSpPr/>
          <p:nvPr/>
        </p:nvSpPr>
        <p:spPr>
          <a:xfrm>
            <a:off x="457200" y="839391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Những điều rút ra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57200" y="1379413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650876"/>
            <a:ext cx="8229600" cy="935608"/>
          </a:xfrm>
          <a:prstGeom prst="roundRect">
            <a:avLst>
              <a:gd name="adj" fmla="val 20361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900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8665" y="1952945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28738" y="1993664"/>
            <a:ext cx="7129463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Nha Trang: điểm đến giàu tiềm năng, hút hàng chục triệu lượt khách mỗi năm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457200" y="2715071"/>
            <a:ext cx="8229600" cy="935608"/>
          </a:xfrm>
          <a:prstGeom prst="roundRect">
            <a:avLst>
              <a:gd name="adj" fmla="val 20361"/>
            </a:avLst>
          </a:prstGeom>
          <a:solidFill>
            <a:srgbClr val="EF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2954275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8665" y="3017140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28738" y="3057860"/>
            <a:ext cx="7129463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Tour 3N2Đ: lịch trình hợp lý, chi phí chỉ ~2,5 triệu đồng/người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464344" y="3786411"/>
            <a:ext cx="8215313" cy="949896"/>
          </a:xfrm>
          <a:prstGeom prst="roundRect">
            <a:avLst>
              <a:gd name="adj" fmla="val 20055"/>
            </a:avLst>
          </a:prstGeom>
          <a:solidFill>
            <a:srgbClr val="DFF6F4"/>
          </a:solidFill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403275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2953" y="4095623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43025" y="4136343"/>
            <a:ext cx="710088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406" b="1" dirty="0">
                <a:solidFill>
                  <a:srgbClr val="0A3D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Bài học: lập kế hoạch chi tiết và làm việc nhóm hiệu quả</a:t>
            </a:r>
            <a:endParaRPr lang="en-US" sz="140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-1214437"/>
            <a:ext cx="3286125" cy="3286125"/>
          </a:xfrm>
          <a:prstGeom prst="ellipse">
            <a:avLst/>
          </a:prstGeom>
          <a:solidFill>
            <a:srgbClr val="2EC4B6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43625" y="785813"/>
            <a:ext cx="857250" cy="85725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857250" y="3714750"/>
            <a:ext cx="2428875" cy="2428875"/>
          </a:xfrm>
          <a:prstGeom prst="ellipse">
            <a:avLst/>
          </a:prstGeom>
          <a:solidFill>
            <a:srgbClr val="2EC4B6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10966" y="3654028"/>
            <a:ext cx="621506" cy="621506"/>
          </a:xfrm>
          <a:prstGeom prst="ellipse">
            <a:avLst/>
          </a:prstGeom>
          <a:noFill/>
          <a:ln w="21431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73500" y="967420"/>
            <a:ext cx="997000" cy="382191"/>
          </a:xfrm>
          <a:prstGeom prst="roundRect">
            <a:avLst>
              <a:gd name="adj" fmla="val 2489717"/>
            </a:avLst>
          </a:prstGeom>
          <a:noFill/>
          <a:ln w="14288">
            <a:solidFill>
              <a:srgbClr val="2EC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6356" y="960276"/>
            <a:ext cx="1011287" cy="428196"/>
          </a:xfrm>
          <a:prstGeom prst="rect">
            <a:avLst/>
          </a:prstGeom>
          <a:noFill/>
          <a:ln/>
        </p:spPr>
        <p:txBody>
          <a:bodyPr wrap="none" lIns="214313" tIns="71438" rIns="214313" bIns="71438" rtlCol="0" anchor="t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181" b="1" spc="225" kern="0" dirty="0">
                <a:solidFill>
                  <a:srgbClr val="2EC4B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 &amp; A</a:t>
            </a:r>
            <a:endParaRPr lang="en-US" sz="1181" dirty="0"/>
          </a:p>
        </p:txBody>
      </p:sp>
      <p:sp>
        <p:nvSpPr>
          <p:cNvPr id="8" name="Text 6"/>
          <p:cNvSpPr/>
          <p:nvPr/>
        </p:nvSpPr>
        <p:spPr>
          <a:xfrm>
            <a:off x="274320" y="1571067"/>
            <a:ext cx="8595248" cy="145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92"/>
              </a:lnSpc>
              <a:buNone/>
            </a:pPr>
            <a:r>
              <a:rPr lang="en-US" sz="47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CẢM ƠN</a:t>
            </a:r>
            <a:endParaRPr lang="en-US" sz="4725" dirty="0"/>
          </a:p>
          <a:p>
            <a:pPr algn="ctr" indent="0" marL="0">
              <a:lnSpc>
                <a:spcPts val="5292"/>
              </a:lnSpc>
              <a:buNone/>
            </a:pPr>
            <a:r>
              <a:rPr lang="en-US" sz="47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THẦY CÔ VÀ CÁC BẠN!</a:t>
            </a:r>
            <a:endParaRPr lang="en-US" sz="4725" dirty="0"/>
          </a:p>
        </p:txBody>
      </p:sp>
      <p:sp>
        <p:nvSpPr>
          <p:cNvPr id="9" name="Text 7"/>
          <p:cNvSpPr/>
          <p:nvPr/>
        </p:nvSpPr>
        <p:spPr>
          <a:xfrm>
            <a:off x="4229100" y="3100946"/>
            <a:ext cx="685800" cy="71438"/>
          </a:xfrm>
          <a:prstGeom prst="roundRect">
            <a:avLst>
              <a:gd name="adj" fmla="val 13319907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29502" y="3343833"/>
            <a:ext cx="3684996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Rất mong nhận được câu hỏi và góp ý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2439591" y="3958196"/>
            <a:ext cx="4264707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Nhóm thực hiện: Kỳ Anh · Minh Nhật · Anh Thư · Thanh Nguyên</a:t>
            </a:r>
            <a:endParaRPr lang="en-US" sz="118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2026-10-18T06:49:58Z</dcterms:created>
  <dcterms:modified xsi:type="dcterms:W3CDTF">2026-10-18T06:49:58Z</dcterms:modified>
</cp:coreProperties>
</file>